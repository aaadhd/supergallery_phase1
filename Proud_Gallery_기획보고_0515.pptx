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보고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2331720"/>
            <a:ext cx="45720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4688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타겟 사용자 &amp; 서비스 비전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핵심 기능 &amp; 핵심 설계 원칙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서비스 방향성 &amp; 핵심 플로우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소프트런칭 범위 (P0)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런칭 이후 계획 (P1 &amp; Phase 2)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마일스톤 &amp; 추가 지원 필요 사항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타겟 사용자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50~70대 순수미술 작가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동호회 · 문화센터 클래스 · 개인 작업실에서 활동하며, 작품을 나눌 공간을 찾는 분들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377440" cy="347472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공유할 공간이 없다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3774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SNS는 어렵고 반응도 적음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전시는 비용·장소 부담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2377440" cy="347472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1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전시하고 싶다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23774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동호회·클래스 작품을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한곳에 묶어 보여주고 싶음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75888"/>
            <a:ext cx="2377440" cy="347472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작품을 기록하고 싶다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23774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꺼내볼 수 있는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디지털 갤러리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2743200"/>
            <a:ext cx="4572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5303520" cy="2176272"/>
          </a:xfrm>
          <a:prstGeom prst="rect">
            <a:avLst/>
          </a:prstGeom>
          <a:solidFill>
            <a:srgbClr val="EB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가 제공하는 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2212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업로드 한 번으로 나만의 전시 공간 완성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25968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비회원 포함, 함께 올리는 그룹 전시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66160" y="2980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운영팀 큐레이션으로 작품 노출·발굴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3364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시니어 친화 UI — 큰 글씨, 단순한 흐름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서비스 비전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시니어 · 중장년 순수미술 작가들이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작품을 쉽게 세상에 내놓고, 함께 전시를 만들 수 있는 디지털 갤러리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2560320" cy="384048"/>
          </a:xfrm>
          <a:prstGeom prst="rect">
            <a:avLst/>
          </a:prstGeom>
          <a:solidFill>
            <a:srgbClr val="D0EA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전시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14016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140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혼자 자신의 작품을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곳에 모아 전시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029968"/>
            <a:ext cx="256032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29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전시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414016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4140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작가가 함께 작품을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묶어 하나의 전시로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029968"/>
            <a:ext cx="2560320" cy="384048"/>
          </a:xfrm>
          <a:prstGeom prst="rect">
            <a:avLst/>
          </a:prstGeom>
          <a:solidFill>
            <a:srgbClr val="FFE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029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큐레이션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414016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140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· 기획전 · 응모전으로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작가를 발굴하고 노출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무료  ·  웹 기반  ·  KO/EN 지원  ·  패드 가로형 우선 반응형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0467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2160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상황  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· 정책 · 카피 문서 작성 완료. AI 기반 프로토타입으로 전체 UX 흐름 검증 완료.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단계는 마무리됐으며, 지금부터는 디자인 → 개발 실행 단계입니다.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핵심 기능 한눈에 보기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84048"/>
          </a:xfrm>
          <a:prstGeom prst="rect">
            <a:avLst/>
          </a:prstGeom>
          <a:solidFill>
            <a:srgbClr val="D0EA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전시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52728"/>
            <a:ext cx="39319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5272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작가가 직접 작품을 업로드해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전시 공간을 만든다.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1~10장 이미지, 전시명·작품명 입력.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93192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전시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252728"/>
            <a:ext cx="39319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5272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작가가 함께 작품을 묶어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전시로 발행.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비회원도 포함 가능, 가입 후 자동 연결.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931920" cy="384048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&amp; 공개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39319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7296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후 운영팀 검수를 거쳐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피드에 공개.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반려·보류·승인 3단계로 플랫폼 신뢰 유지.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3931920" cy="384048"/>
          </a:xfrm>
          <a:prstGeom prst="rect">
            <a:avLst/>
          </a:prstGeom>
          <a:solidFill>
            <a:srgbClr val="FFE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788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큐레이션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172968"/>
            <a:ext cx="39319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17296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· 기획전 · 응모전으로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작가를 발굴하고 노출 확대.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배너·피드 상단 노출.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핵심 설계 원칙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2286000" cy="749808"/>
          </a:xfrm>
          <a:prstGeom prst="rect">
            <a:avLst/>
          </a:prstGeom>
          <a:solidFill>
            <a:srgbClr val="2B5B9D"/>
          </a:solidFill>
          <a:ln w="12700">
            <a:solidFill>
              <a:srgbClr val="2B5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전시(Exhibition)가 기본 단위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1장도 전시다. 이미지 1~10장이 하나의 전시 컨테이너.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1225296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971800" y="850392"/>
            <a:ext cx="5623560" cy="749808"/>
          </a:xfrm>
          <a:prstGeom prst="rect">
            <a:avLst/>
          </a:prstGeom>
          <a:solidFill>
            <a:srgbClr val="EB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896112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좋아요 · 저장 · Pick · 기획전 · 검색 · 검수  →  모두 전시 단위로 동작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124712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피드 노출, 배너, 응모전 출품도 전시 단위 선정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0" y="1353312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댓글·신고 역시 전시 단위 (작품 개별 아님)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655064"/>
            <a:ext cx="2286000" cy="74980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73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권한은 작가 본인에게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020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사람이 누구든, 내 작품에 대한 편집·삭제 권한은 항상 내가 갖는다.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2029968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971800" y="1655064"/>
            <a:ext cx="5623560" cy="749808"/>
          </a:xfrm>
          <a:prstGeom prst="rect">
            <a:avLst/>
          </a:prstGeom>
          <a:solidFill>
            <a:srgbClr val="EAF7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700784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그룹 전시에 포함된 내 작품  →  작품명 수정 · 삭제 언제든 가능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1929384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Pick · 기획전 출품 중인 상태에서도 삭제 가능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08960" y="2157984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타인이 게시한 전시의 내 슬롯  →  내가 직접 편집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459736"/>
            <a:ext cx="2286000" cy="749808"/>
          </a:xfrm>
          <a:prstGeom prst="rect">
            <a:avLst/>
          </a:prstGeom>
          <a:solidFill>
            <a:srgbClr val="C26A1A"/>
          </a:solidFill>
          <a:ln w="12700">
            <a:solidFill>
              <a:srgbClr val="C26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78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탈퇴 = 작품 삭제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컨테이너는 유지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825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작품은 모두 삭제. 단, 전시 자체는 다른 작가 이미지가 남으면 공개 유지.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834640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971800" y="2459736"/>
            <a:ext cx="5623560" cy="749808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505456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내 전체 작품 즉시 삭제 (그룹 전시 내 슬롯 포함)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2734056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내가 게시한 전시  →  게시자 이름만 잔류, 닉네임 · 아바타 제거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08960" y="2962656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닉네임 클릭 시  →  "탈퇴한 회원입니다" / 이미지 0장 전시는 cascade 삭제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264408"/>
            <a:ext cx="2286000" cy="74980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82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플랫폼은 강요하지 않는다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630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스스로 선택하고 동의하도록. 회사는 중간에 개입하지 않는다.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51760" y="3639312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971800" y="3264408"/>
            <a:ext cx="5623560" cy="749808"/>
          </a:xfrm>
          <a:prstGeom prst="rect">
            <a:avLst/>
          </a:prstGeom>
          <a:solidFill>
            <a:srgbClr val="D0EA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3310128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초대는 작가가 직접 공유 — 회사가 외부 채널(문자·메일)로 발송하지 않음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08960" y="3538728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비회원 연결은 가입자가 본인 작품 명시 클릭해야만 — 자동 매칭 없음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08960" y="3767328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비밀번호 없는 매직 링크 가입 — 시니어 이탈 원인 원천 제거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069080"/>
            <a:ext cx="2286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87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운영팀이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게이트키퍼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434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저장소가 아닌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편집된 갤러리로 기능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51760" y="4443984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2971800" y="4069080"/>
            <a:ext cx="5623560" cy="749808"/>
          </a:xfrm>
          <a:prstGeom prst="rect">
            <a:avLst/>
          </a:prstGeom>
          <a:solidFill>
            <a:srgbClr val="F8D7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4114800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모든 업로드 → 운영팀 검수 통과 후 피드 공개 (자동 공개 없음)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08960" y="4343400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신고는 사용자 카테고리 분류 없이 운영팀이 직접 판정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108960" y="4572000"/>
            <a:ext cx="5349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Pick · 기획전 · 응모전으로 우수 작품 능동 발굴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서비스 방향성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19456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작가가 전시를 쉽게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1945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허들 최소화,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기반 안전 공개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19456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전시 &amp; 작품 연결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1945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 포함 함께 올리기,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본인 작품 자동 연결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219456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운영팀 큐레이션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21945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03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· 기획전 · 응모전으로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발굴 및 노출 확대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1380744"/>
            <a:ext cx="502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560320" y="2615184"/>
            <a:ext cx="502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560320" y="3849624"/>
            <a:ext cx="502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063240" y="868680"/>
            <a:ext cx="251460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868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전시를 올리고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작가와 함께 만드는 경험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103120"/>
            <a:ext cx="251460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운영팀이 우수 작품을 발굴해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피드에서 자연스럽게 노출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3337560"/>
            <a:ext cx="251460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337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· 신고 · 모더레이션으로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신뢰도 확보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380744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577840" y="2615184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577840" y="3849624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989320" y="1188720"/>
            <a:ext cx="2651760" cy="2377440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1887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시니어 작가의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갤러리 활동 정착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서비스 성장 기반 확보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주요 플로우 ①   전시 업로드 &amp; 검수 &amp; 공개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올리기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325880" cy="566928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선택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(혼자 올리기)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0200" y="145389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011680" y="1170432"/>
            <a:ext cx="1325880" cy="566928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1704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등록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작가 지정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45389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749040" y="1170432"/>
            <a:ext cx="1417320" cy="566928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704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세부정보 입력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(전시명 · 작품명)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145389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577840" y="1170432"/>
            <a:ext cx="868680" cy="566928"/>
          </a:xfrm>
          <a:prstGeom prst="rect">
            <a:avLst/>
          </a:prstGeom>
          <a:solidFill>
            <a:srgbClr val="4A8C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170432"/>
            <a:ext cx="8686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신청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011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올리기 (그룹 전시)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132588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677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선택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(함께 올리기)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00200" y="25511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011680" y="2267712"/>
            <a:ext cx="132588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2677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등록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작가 지정 (2명↑)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5511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749040" y="2267712"/>
            <a:ext cx="141732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2677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세부정보 입력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(그룹명 · 전시명)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25511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577840" y="2267712"/>
            <a:ext cx="868680" cy="566928"/>
          </a:xfrm>
          <a:prstGeom prst="rect">
            <a:avLst/>
          </a:prstGeom>
          <a:solidFill>
            <a:srgbClr val="2B5B9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267712"/>
            <a:ext cx="86868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신청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66460" y="1737360"/>
            <a:ext cx="0" cy="530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355080" y="1920240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766560" y="1554480"/>
            <a:ext cx="1371600" cy="77724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대기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(운영팀)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52360" y="2331720"/>
            <a:ext cx="0" cy="4114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995160" y="2743200"/>
            <a:ext cx="4572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2743200"/>
            <a:ext cx="0" cy="3200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537960" y="3063240"/>
            <a:ext cx="914400" cy="566928"/>
          </a:xfrm>
          <a:prstGeom prst="rect">
            <a:avLst/>
          </a:prstGeom>
          <a:solidFill>
            <a:srgbClr val="F8D7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063240"/>
            <a:ext cx="91440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(사유 전달)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52360" y="2743200"/>
            <a:ext cx="4572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2743200"/>
            <a:ext cx="0" cy="3200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7498080" y="3063240"/>
            <a:ext cx="1005840" cy="566928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30632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피드 공개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06640" y="36301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8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팔로워 알림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8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초대 링크 활성화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37960" y="3346704"/>
            <a:ext cx="-443484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103120" y="3346704"/>
            <a:ext cx="0" cy="-1078992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</p:sp>
      <p:sp>
        <p:nvSpPr>
          <p:cNvPr id="45" name="Text 43"/>
          <p:cNvSpPr/>
          <p:nvPr/>
        </p:nvSpPr>
        <p:spPr>
          <a:xfrm>
            <a:off x="2286000" y="32186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재검수 가능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160520"/>
            <a:ext cx="8412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7880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후 즉시 공개되지 않고 운영팀 검수 대기 상태 진입. 반려 시 사유 4종(저작권·부적절·촬영사진·기타) + 메모 전달. 작가는 수정 후 재검수 요청 가능. 전시명·작품명·그룹명 20자 상한.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주요 플로우 ②   비회원 초대 &amp; 작품 연결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전시에서 '비회원'으로 지정된 슬롯 → 검수 승인 후 초대 링크 자동 발급 → 업로더 작가가 직접 공유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업로더 작가 (작품 올린 사람)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141732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 슬롯에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등록 &amp; 전시 신청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6367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103120" y="1353312"/>
            <a:ext cx="128016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533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승인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(운영팀)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6367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794760" y="1353312"/>
            <a:ext cx="1280160" cy="566928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3533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1636776"/>
            <a:ext cx="411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486400" y="1353312"/>
            <a:ext cx="1417320" cy="566928"/>
          </a:xfrm>
          <a:prstGeom prst="rect">
            <a:avLst/>
          </a:prstGeom>
          <a:solidFill>
            <a:srgbClr val="D0EA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3533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비회원에게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직접 공유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5060" y="1920240"/>
            <a:ext cx="0" cy="4114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4572000" y="23774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초대받은 비회원 (가입 전 친구)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0" y="2615184"/>
            <a:ext cx="1280160" cy="566928"/>
          </a:xfrm>
          <a:prstGeom prst="rect">
            <a:avLst/>
          </a:prstGeom>
          <a:solidFill>
            <a:srgbClr val="D0EA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클릭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진입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2898648"/>
            <a:ext cx="1554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377440" y="2615184"/>
            <a:ext cx="128016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2898648"/>
            <a:ext cx="15544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74320" y="2615184"/>
            <a:ext cx="1463040" cy="749808"/>
          </a:xfrm>
          <a:prstGeom prst="rect">
            <a:avLst/>
          </a:prstGeom>
          <a:solidFill>
            <a:srgbClr val="FFE5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15184"/>
            <a:ext cx="1463040" cy="7498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온보딩: 본인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카드 클릭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확인 다이얼로그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3364992"/>
            <a:ext cx="0" cy="38404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74320" y="3749040"/>
            <a:ext cx="1554480" cy="530352"/>
          </a:xfrm>
          <a:prstGeom prst="rect">
            <a:avLst/>
          </a:prstGeom>
          <a:solidFill>
            <a:srgbClr val="D6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490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연결 완료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('member' 승격)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4014216"/>
            <a:ext cx="502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2331720" y="3749040"/>
            <a:ext cx="1554480" cy="530352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7490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업로더에게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알림 1건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474720"/>
            <a:ext cx="374904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511296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2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포인트
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링크 유효기간 90일 (반려 시 비활성, 재승인 시 자동 활성)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동시 연결 충돌 방지: 두 번째 선택 자동 차단 + 토스트 안내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잘못 연결 시 업로더가 슬롯 편집으로 해제 가능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소프트런칭 범위 (P0)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6720840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화면 &amp; 특이사항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온보딩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 3종(카카오·구글·애플) + 이메일 / 온보딩 '본인 작품 찾기'(조건부 진입)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둘러보기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피드: 배너 + 탭(전체·개인·그룹·Pick·기획전) + 카드 그리드 / Pick·기획전 탭 → 전체화면 상세로 이동, 비로그인 탐색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상세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뷰어(딥줌 최대 4x, 시니어 친화) · 좋아요 · 저장 · 팔로우 · 공유 · 신고 / 비회원 초대 랜딩(4가지 분기)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업로드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혼자·함께 올리기 / 작가 지정 / 세부정보 / 비회원 초대 안내 / 반려 후 재편집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전시·내 작품·좋아요·저장·초안 탭 / 팔로워·팔로잉 / 반려 사유 확인 / 삭제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3종(기획전·응모전·Pick) + 응모 모달 + Pick 세션 상세 + 명예의 전당 / 기획전 항목은 외부 링크 연결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상태 + 결과 (필터 5종: 전체·작가명·그룹명·전시명·작품명)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13종 알림, 필터 7종, 90일 보관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글꼴(3단계) · 테마(밝기) · 알림 설정 · 로그아웃 · 탈퇴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소개 · FAQ · 공지 · 이용약관* · 개인정보처리방침* · 문의하기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어드민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~12개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검수 큐 · 판정 / Pick(선정 · 이력) · 기획전 · 응모전 · 배너 / 대시보드 · 문의함  (신고 처리 큐 · 회원 목록은 P1 이후)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365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이용약관 · 개인정보처리방침은 법무 확정본 삽입 전까지 사용자 모집 불가 (런칭 블로커)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소프트런칭 전 필수 확정 항목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50392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219456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  🔴 블로커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확정본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+ 외부 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  🔴 블로커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개인정보처리방침 확정본 + DPO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+ 외부 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수신 동의 문구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+ 외부 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응모전 게시 동의 적법 근거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+ 외부 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 로그인 실연동 (카카오 · 구글 · 애플)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인증 링크 실발송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실서버 연결 및 데이터 영속화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파비콘 및 웹 기본 정보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 + PM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FFF3C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33425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개발은 이미 착수 중. 6월 30일 소프트런칭을 맞추려면   법무 변호사 의뢰를 이번 주 시작해야 합니다 (완료까지 2~4주 소요).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법무 검토 상세 사항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731520" cy="201168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즉시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8136" y="832104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 · 개인정보처리방침 미작성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033272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42416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정책은 완성됐으나 법적 효력 있는 약관 문서 없음. 변호사 초안 작성·검토 2~4주 소요. 런칭 블로커.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822960"/>
            <a:ext cx="731520" cy="201168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8229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즉시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57216" y="832104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 차단 방식 적법성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033272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042416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선언 체크박스만 수집(생년월일 미수집). 법정대리인 동의 면제 요건 및 약관 면책 문구 확인 필요.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426464"/>
            <a:ext cx="731520" cy="201168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264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즉시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88136" y="1435608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채널 없는 사용자 법적 고지 (LP-12)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636776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1645920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이메일 미등록 + 전화번호 거부 사용자 → 인앱 알림만으로 약관 변경 고지 시 전자상거래법·약관규제법 충족 여부.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1426464"/>
            <a:ext cx="731520" cy="201168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4264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즉시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57216" y="1435608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DPO(개인정보보호책임자) 지정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1636776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645920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개인정보처리방침에 DPO 명시 의무. 내부 지정 vs 외부 법무법인 위탁 결정 후 처리방침에 포함.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029968"/>
            <a:ext cx="731520" cy="2011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29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동시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88136" y="2039112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"동의하지 않으면 동의 간주" 조항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240280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24942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약관규제법 §3③ 기준. 변경 공지 시 포함해야 하는 정확한 조항 문구·표시 위치·효력 발생 기간.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2029968"/>
            <a:ext cx="731520" cy="2011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029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동시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57216" y="2039112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— 플랫폼 라이선스 범위 &amp; OSP 면책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2240280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224942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업로드 시 플랫폼이 취득하는 사용권 범위. 저작권법 OSP 면책 요건 충족을 위한 삭제 요청 대응 절차.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633472"/>
            <a:ext cx="731520" cy="2011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6334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동시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88136" y="2642616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매직 링크(이메일 일회용 링크) 인증 방식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843784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852928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없는 이메일 링크 인증이 정보통신망법상 본인 확인 기준 충족 여부. 법적 분쟁 시 본인 로그인 증빙.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2633472"/>
            <a:ext cx="731520" cy="2011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6334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동시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57216" y="2642616"/>
            <a:ext cx="3118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응모전 게시 동의 적법 근거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89120" y="2843784"/>
            <a:ext cx="3886200" cy="35661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2852928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 시 작품이 수상 발표·홍보에 사용될 수 있는 근거 조항. 응모 모달 동의 문구 법무 확정 필요.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626864"/>
            <a:ext cx="8503920" cy="310896"/>
          </a:xfrm>
          <a:prstGeom prst="rect">
            <a:avLst/>
          </a:prstGeom>
          <a:solidFill>
            <a:srgbClr val="FFF3C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268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B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의뢰 4건은 같은 법무법인에 한 번에 의뢰하면 컨텍스트 공유로 비용·기간 단축.   착수 목표: 이번 주 (6월 30일 런칭 역산 마지노선)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런칭 이후 계획   P1 &amp; Phase 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3931920" cy="365760"/>
          </a:xfrm>
          <a:prstGeom prst="rect">
            <a:avLst/>
          </a:prstGeom>
          <a:solidFill>
            <a:srgbClr val="1C295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  소프트런칭 후 1~3개월  Iteration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393192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멀티태그 시스템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(전시 · 작품 단위 태깅, 어드민 태깅 도구)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개인화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(팔로잉 · 태그 기반 랭킹)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393192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처리 큐 + 어드민 회원 목록 · 상세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42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응모전 이메일 구독 관리 화면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 설정 토글로 대체 운영 가능)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393192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18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전시 · 이벤트 · 공지 관리 어드민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(초기엔 수동 운영으로 커버)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93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변경 강제 동의 화면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(런칭 초판 시점엔 변경 이벤트 없음)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850392"/>
            <a:ext cx="3931920" cy="365760"/>
          </a:xfrm>
          <a:prstGeom prst="rect">
            <a:avLst/>
          </a:prstGeom>
          <a:solidFill>
            <a:srgbClr val="2A7A7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50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 장기 로드맵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216152"/>
            <a:ext cx="39319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161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검색 + 카테고리 탐색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(태그 데이터 축적 후 오픈)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79222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7922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권한 3단계 분리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(최고 운영자 · 에디터 · 뷰어)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368296"/>
            <a:ext cx="39319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682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· 메시지 · 그룹 커뮤니티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94436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9443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공유 이미지 동적 생성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520440"/>
            <a:ext cx="393192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20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직접 거래 · 라이선스 연결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09651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0965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차원 제재 (주의 · 정지)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개발 마일스톤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27632"/>
                <a:gridCol w="1627632"/>
                <a:gridCol w="1627632"/>
                <a:gridCol w="1627632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6월 1주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6월 말 (30일)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7월~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 ✓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 의뢰·확정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의뢰 착수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(이번 주)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목표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(2~4주 소요)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(Figma)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Figma 납품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(MD 기반)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 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 목표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소프트런칭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 🎯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법무 변호사 의뢰가 이번 주 시작되지 않으면 약관 미완성으로 6월 30일 소프트런칭이 어렵습니다.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Proud Gallery   추가 지원 &amp; 역할 분담 필요 사항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86000"/>
                <a:gridCol w="274320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시급도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· 프로토타입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Figma 파일 제작 &amp; 납품 → 개발 갈아끼우기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납품 일정 확인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완료. MD 기반 정합성 체크하며 진행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납품 후 교체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변호사 검토 ·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(완료까지 2~4주 소요)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 이번 주 의뢰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수용 기준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 후 전체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9502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완료 · 개발 진행 중. 남은 단 하나의 블로커는 법무입니다.
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변호사 의뢰를 이번 주 시작해야 6월 30일 소프트런칭이 가능합니다.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2026-05-19T05:49:17Z</dcterms:created>
  <dcterms:modified xsi:type="dcterms:W3CDTF">2026-05-19T05:49:17Z</dcterms:modified>
</cp:coreProperties>
</file>