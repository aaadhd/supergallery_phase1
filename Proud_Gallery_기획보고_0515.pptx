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6868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C29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Proud Gallery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보고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0" y="2331720"/>
            <a:ext cx="4572000" cy="36576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0" y="2468880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타겟 사용자 &amp; 서비스 비전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핵심 기능 &amp; 핵심 설계 원칙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서비스 방향성 &amp; 핵심 플로우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 소프트런칭 범위 (P0)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 런칭 이후 계획 (P1 &amp; Phase 2)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 마일스톤 &amp; 추가 지원 필요 사항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0" y="44805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Proud Gallery   타겟 사용자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286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86868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29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50~70대 순수미술 작가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동호회 · 문화센터 클래스 · 개인 작업실에서 활동하며, 작품을 나눌 공간을 찾는 분들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2377440" cy="347472"/>
          </a:xfrm>
          <a:prstGeom prst="rect">
            <a:avLst/>
          </a:prstGeom>
          <a:solidFill>
            <a:srgbClr val="1C2951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755648"/>
            <a:ext cx="2377440" cy="34747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공유할 공간이 없다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65760" y="2103120"/>
            <a:ext cx="237744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03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SNS는 어렵고 반응도 적음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전시는 비용·장소 부담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2715768"/>
            <a:ext cx="2377440" cy="347472"/>
          </a:xfrm>
          <a:prstGeom prst="rect">
            <a:avLst/>
          </a:prstGeom>
          <a:solidFill>
            <a:srgbClr val="1C2951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715768"/>
            <a:ext cx="2377440" cy="34747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같이 전시하고 싶다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3063240"/>
            <a:ext cx="237744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0632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동호회·클래스 작품을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한곳에 묶어 보여주고 싶음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675888"/>
            <a:ext cx="2377440" cy="347472"/>
          </a:xfrm>
          <a:prstGeom prst="rect">
            <a:avLst/>
          </a:prstGeom>
          <a:solidFill>
            <a:srgbClr val="1C2951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6758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작품을 기록하고 싶다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023360"/>
            <a:ext cx="237744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언제든 꺼내볼 수 있는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나만의 디지털 갤러리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88920" y="2743200"/>
            <a:ext cx="45720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3291840" y="1755648"/>
            <a:ext cx="5303520" cy="2176272"/>
          </a:xfrm>
          <a:prstGeom prst="rect">
            <a:avLst/>
          </a:prstGeom>
          <a:solidFill>
            <a:srgbClr val="EBF3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18288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9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Proud Gallery 가 제공하는 것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66160" y="221284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업로드 한 번으로 나만의 전시 공간 완성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566160" y="2596896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비회원 포함, 함께 올리는 그룹 전시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566160" y="2980944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운영팀 큐레이션으로 작품 노출·발굴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566160" y="3364992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시니어 친화 UI — 큰 글씨, 단순한 흐름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Proud Gallery   서비스 비전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286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시니어 · 중장년 순수미술 작가들이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344168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29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자신의 작품을 쉽게 세상에 내놓고, 함께 전시를 만들 수 있는 디지털 갤러리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02920" y="2029968"/>
            <a:ext cx="2560320" cy="384048"/>
          </a:xfrm>
          <a:prstGeom prst="rect">
            <a:avLst/>
          </a:prstGeom>
          <a:solidFill>
            <a:srgbClr val="D0EA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0299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전시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414016"/>
            <a:ext cx="2560320" cy="777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414016"/>
            <a:ext cx="2560320" cy="7772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작가 혼자 자신의 작품을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곳에 모아 전시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37560" y="2029968"/>
            <a:ext cx="2560320" cy="384048"/>
          </a:xfrm>
          <a:prstGeom prst="rect">
            <a:avLst/>
          </a:prstGeom>
          <a:solidFill>
            <a:srgbClr val="D6E4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20299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전시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37560" y="2414016"/>
            <a:ext cx="2560320" cy="777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7560" y="2414016"/>
            <a:ext cx="2560320" cy="7772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작가가 함께 작품을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묶어 하나의 전시로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72200" y="2029968"/>
            <a:ext cx="2560320" cy="384048"/>
          </a:xfrm>
          <a:prstGeom prst="rect">
            <a:avLst/>
          </a:prstGeom>
          <a:solidFill>
            <a:srgbClr val="FFE5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20299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큐레이션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2414016"/>
            <a:ext cx="2560320" cy="777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2414016"/>
            <a:ext cx="2560320" cy="7772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 · 기획전 · 응모전으로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작가를 발굴하고 노출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3337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 무료  ·  웹 기반  ·  KO/EN 지원  ·  패드 가로형 우선 반응형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03320"/>
            <a:ext cx="8046720" cy="777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21608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b="1" dirty="0">
                <a:solidFill>
                  <a:srgbClr val="1C29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상황  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PRD · 정책 · 카피 문서 작성 완료. AI 기반 프로토타입으로 전체 UX 흐름 검증 완료.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단계는 마무리됐으며, 지금부터는 디자인 → 개발 실행 단계입니다.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Proud Gallery   핵심 기능 한눈에 보기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286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3931920" cy="384048"/>
          </a:xfrm>
          <a:prstGeom prst="rect">
            <a:avLst/>
          </a:prstGeom>
          <a:solidFill>
            <a:srgbClr val="D0EA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68680"/>
            <a:ext cx="3931920" cy="3840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전시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252728"/>
            <a:ext cx="3931920" cy="13258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252728"/>
            <a:ext cx="3931920" cy="132588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작가가 직접 작품을 업로드해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나만의 전시 공간을 만든다.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1~10장 이미지, 전시명·작품명 입력.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09160" y="868680"/>
            <a:ext cx="3931920" cy="384048"/>
          </a:xfrm>
          <a:prstGeom prst="rect">
            <a:avLst/>
          </a:prstGeom>
          <a:solidFill>
            <a:srgbClr val="D6E4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868680"/>
            <a:ext cx="3931920" cy="3840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전시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1252728"/>
            <a:ext cx="3931920" cy="13258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252728"/>
            <a:ext cx="3931920" cy="132588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작가가 함께 작품을 묶어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전시로 발행.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비회원도 포함 가능, 가입 후 자동 연결.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788920"/>
            <a:ext cx="3931920" cy="384048"/>
          </a:xfrm>
          <a:prstGeom prst="rect">
            <a:avLst/>
          </a:prstGeom>
          <a:solidFill>
            <a:srgbClr val="FFF9C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7889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 &amp; 공개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3172968"/>
            <a:ext cx="3931920" cy="13258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172968"/>
            <a:ext cx="3931920" cy="132588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후 운영팀 검수를 거쳐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피드에 공개.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반려·보류·승인 3단계로 플랫폼 신뢰 유지.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09160" y="2788920"/>
            <a:ext cx="3931920" cy="384048"/>
          </a:xfrm>
          <a:prstGeom prst="rect">
            <a:avLst/>
          </a:prstGeom>
          <a:solidFill>
            <a:srgbClr val="FFE5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9160" y="27889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큐레이션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09160" y="3172968"/>
            <a:ext cx="3931920" cy="13258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3172968"/>
            <a:ext cx="3931920" cy="132588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 · 기획전 · 응모전으로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우수 작가를 발굴하고 노출 확대.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배너·피드 상단 노출.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Proud Gallery   핵심 설계 원칙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286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850392"/>
            <a:ext cx="2286000" cy="749808"/>
          </a:xfrm>
          <a:prstGeom prst="rect">
            <a:avLst/>
          </a:prstGeom>
          <a:solidFill>
            <a:srgbClr val="2B5B9D"/>
          </a:solidFill>
          <a:ln w="12700">
            <a:solidFill>
              <a:srgbClr val="2B5B9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686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전시(Exhibition)가 기본 단위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2161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1장도 전시다. 이미지 1~10장이 하나의 전시 컨테이너.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651760" y="1225296"/>
            <a:ext cx="32004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971800" y="850392"/>
            <a:ext cx="5623560" cy="749808"/>
          </a:xfrm>
          <a:prstGeom prst="rect">
            <a:avLst/>
          </a:prstGeom>
          <a:solidFill>
            <a:srgbClr val="EBF3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08960" y="896112"/>
            <a:ext cx="5349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좋아요 · 저장 · Pick · 기획전 · 검색 · 검수  →  모두 전시 단위로 동작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108960" y="1124712"/>
            <a:ext cx="5349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피드 노출, 배너, 응모전 출품도 전시 단위 선정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108960" y="1353312"/>
            <a:ext cx="5349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댓글·신고 역시 전시 단위 (작품 개별 아님)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1655064"/>
            <a:ext cx="2286000" cy="749808"/>
          </a:xfrm>
          <a:prstGeom prst="rect">
            <a:avLst/>
          </a:prstGeom>
          <a:solidFill>
            <a:srgbClr val="4A8C5C"/>
          </a:solidFill>
          <a:ln w="12700">
            <a:solidFill>
              <a:srgbClr val="4A8C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6733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권한은 작가 본인에게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2020824"/>
            <a:ext cx="2286000" cy="347472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업로드한 사람이 누구든, 내 작품에 대한 편집·삭제 권한은 항상 내가 갖는다.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651760" y="2029968"/>
            <a:ext cx="32004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17" name="Shape 15"/>
          <p:cNvSpPr/>
          <p:nvPr/>
        </p:nvSpPr>
        <p:spPr>
          <a:xfrm>
            <a:off x="2971800" y="1655064"/>
            <a:ext cx="5623560" cy="749808"/>
          </a:xfrm>
          <a:prstGeom prst="rect">
            <a:avLst/>
          </a:prstGeom>
          <a:solidFill>
            <a:srgbClr val="EAF7ED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08960" y="1700784"/>
            <a:ext cx="5349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그룹 전시에 포함된 내 작품  →  작품명 수정 · 삭제 언제든 가능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108960" y="1929384"/>
            <a:ext cx="5349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Pick · 기획전 출품 중인 상태에서도 삭제 가능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108960" y="2157984"/>
            <a:ext cx="5349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타인이 게시한 전시의 내 슬롯  →  내가 직접 편집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2459736"/>
            <a:ext cx="2286000" cy="749808"/>
          </a:xfrm>
          <a:prstGeom prst="rect">
            <a:avLst/>
          </a:prstGeom>
          <a:solidFill>
            <a:srgbClr val="C26A1A"/>
          </a:solidFill>
          <a:ln w="12700">
            <a:solidFill>
              <a:srgbClr val="C26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2478024"/>
            <a:ext cx="2286000" cy="347472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탈퇴 = 작품 삭제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전시 컨테이너는 유지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2825496"/>
            <a:ext cx="2286000" cy="347472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작품은 모두 삭제. 단, 전시 자체는 다른 작가 이미지가 남으면 공개 유지.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51760" y="2834640"/>
            <a:ext cx="32004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2971800" y="2459736"/>
            <a:ext cx="5623560" cy="749808"/>
          </a:xfrm>
          <a:prstGeom prst="rect">
            <a:avLst/>
          </a:prstGeom>
          <a:solidFill>
            <a:srgbClr val="FFF3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08960" y="2505456"/>
            <a:ext cx="5349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내 전체 작품 즉시 삭제 (그룹 전시 내 슬롯 포함)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108960" y="2734056"/>
            <a:ext cx="5349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내가 게시한 전시  →  게시자 이름만 잔류, 닉네임 · 아바타 제거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108960" y="2962656"/>
            <a:ext cx="5349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닉네임 클릭 시  →  "탈퇴한 회원입니다" / 이미지 0장 전시는 cascade 삭제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3264408"/>
            <a:ext cx="2286000" cy="74980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82696"/>
            <a:ext cx="2286000" cy="347472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플랫폼은 강요하지 않는다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65760" y="3630168"/>
            <a:ext cx="2286000" cy="347472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스스로 선택하고 동의하도록. 회사는 중간에 개입하지 않는다.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651760" y="3639312"/>
            <a:ext cx="32004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2971800" y="3264408"/>
            <a:ext cx="5623560" cy="749808"/>
          </a:xfrm>
          <a:prstGeom prst="rect">
            <a:avLst/>
          </a:prstGeom>
          <a:solidFill>
            <a:srgbClr val="D0EA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08960" y="3310128"/>
            <a:ext cx="5349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초대는 작가가 직접 공유 — 회사가 외부 채널(문자·메일)로 발송하지 않음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3108960" y="3538728"/>
            <a:ext cx="5349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비회원 연결은 가입자가 본인 작품 명시 클릭해야만 — 자동 매칭 없음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108960" y="3767328"/>
            <a:ext cx="5349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비밀번호 없는 매직 링크 가입 — 시니어 이탈 원인 원천 제거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65760" y="4069080"/>
            <a:ext cx="2286000" cy="7498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87368"/>
            <a:ext cx="2286000" cy="347472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운영팀이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게이트키퍼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65760" y="44348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저장소가 아닌</a:t>
            </a:r>
            <a:endParaRPr lang="en-US" sz="85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편집된 갤러리로 기능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651760" y="4443984"/>
            <a:ext cx="32004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2971800" y="4069080"/>
            <a:ext cx="5623560" cy="749808"/>
          </a:xfrm>
          <a:prstGeom prst="rect">
            <a:avLst/>
          </a:prstGeom>
          <a:solidFill>
            <a:srgbClr val="F8D7D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108960" y="4114800"/>
            <a:ext cx="5349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모든 업로드 → 운영팀 검수 통과 후 피드 공개 (자동 공개 없음)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108960" y="4343400"/>
            <a:ext cx="5349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신고는 사용자 카테고리 분류 없이 운영팀이 직접 판정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108960" y="4572000"/>
            <a:ext cx="5349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Pick · 기획전 · 응모전으로 우수 작품 능동 발굴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Proud Gallery   서비스 방향성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286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2194560" cy="365760"/>
          </a:xfrm>
          <a:prstGeom prst="rect">
            <a:avLst/>
          </a:prstGeom>
          <a:solidFill>
            <a:srgbClr val="1C2951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68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작가가 전시를 쉽게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65760" y="1234440"/>
            <a:ext cx="219456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2344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허들 최소화,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 기반 안전 공개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103120"/>
            <a:ext cx="2194560" cy="365760"/>
          </a:xfrm>
          <a:prstGeom prst="rect">
            <a:avLst/>
          </a:prstGeom>
          <a:solidFill>
            <a:srgbClr val="1C2951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전시 &amp; 작품 연결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468880"/>
            <a:ext cx="219456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468880"/>
            <a:ext cx="2194560" cy="65836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비회원 포함 함께 올리기,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후 본인 작품 자동 연결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337560"/>
            <a:ext cx="2194560" cy="365760"/>
          </a:xfrm>
          <a:prstGeom prst="rect">
            <a:avLst/>
          </a:prstGeom>
          <a:solidFill>
            <a:srgbClr val="1C2951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337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운영팀 큐레이션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3703320"/>
            <a:ext cx="219456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7033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 · 기획전 · 응모전으로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작가 발굴 및 노출 확대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560320" y="1380744"/>
            <a:ext cx="50292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2560320" y="2615184"/>
            <a:ext cx="50292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2560320" y="3849624"/>
            <a:ext cx="50292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3063240" y="868680"/>
            <a:ext cx="2514600" cy="914400"/>
          </a:xfrm>
          <a:prstGeom prst="rect">
            <a:avLst/>
          </a:prstGeom>
          <a:solidFill>
            <a:srgbClr val="FFF9C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63240" y="8686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쉽게 전시를 올리고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작가와 함께 만드는 경험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063240" y="2103120"/>
            <a:ext cx="2514600" cy="914400"/>
          </a:xfrm>
          <a:prstGeom prst="rect">
            <a:avLst/>
          </a:prstGeom>
          <a:solidFill>
            <a:srgbClr val="FFF9C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63240" y="21031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운영팀이 우수 작품을 발굴해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피드에서 자연스럽게 노출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063240" y="3337560"/>
            <a:ext cx="2514600" cy="914400"/>
          </a:xfrm>
          <a:prstGeom prst="rect">
            <a:avLst/>
          </a:prstGeom>
          <a:solidFill>
            <a:srgbClr val="FFF9C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63240" y="3337560"/>
            <a:ext cx="2514600" cy="91440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 · 신고 · 모더레이션으로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신뢰도 확보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577840" y="1380744"/>
            <a:ext cx="41148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5577840" y="2615184"/>
            <a:ext cx="41148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5577840" y="3849624"/>
            <a:ext cx="41148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989320" y="1188720"/>
            <a:ext cx="2651760" cy="2377440"/>
          </a:xfrm>
          <a:prstGeom prst="rect">
            <a:avLst/>
          </a:prstGeom>
          <a:solidFill>
            <a:srgbClr val="D6EDD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89320" y="1188720"/>
            <a:ext cx="2651760" cy="2377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시니어 작가의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 갤러리 활동 정착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서비스 성장 기반 확보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Proud Gallery   주요 플로우 ①   전시 업로드 &amp; 검수 &amp; 공개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286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91440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올리기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74320" y="1170432"/>
            <a:ext cx="1325880" cy="566928"/>
          </a:xfrm>
          <a:prstGeom prst="rect">
            <a:avLst/>
          </a:prstGeom>
          <a:solidFill>
            <a:srgbClr val="D6EDD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170432"/>
            <a:ext cx="1325880" cy="56692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 선택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(혼자 올리기)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600200" y="1453896"/>
            <a:ext cx="41148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011680" y="1170432"/>
            <a:ext cx="1325880" cy="566928"/>
          </a:xfrm>
          <a:prstGeom prst="rect">
            <a:avLst/>
          </a:prstGeom>
          <a:solidFill>
            <a:srgbClr val="D6EDD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11680" y="1170432"/>
            <a:ext cx="1325880" cy="56692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등록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&amp; 작가 지정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37560" y="1453896"/>
            <a:ext cx="41148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3749040" y="1170432"/>
            <a:ext cx="1417320" cy="566928"/>
          </a:xfrm>
          <a:prstGeom prst="rect">
            <a:avLst/>
          </a:prstGeom>
          <a:solidFill>
            <a:srgbClr val="D6EDD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49040" y="1170432"/>
            <a:ext cx="1417320" cy="56692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세부정보 입력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(전시명 · 작품명)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166360" y="1453896"/>
            <a:ext cx="41148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5577840" y="1170432"/>
            <a:ext cx="868680" cy="566928"/>
          </a:xfrm>
          <a:prstGeom prst="rect">
            <a:avLst/>
          </a:prstGeom>
          <a:solidFill>
            <a:srgbClr val="4A8C5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77840" y="1170432"/>
            <a:ext cx="868680" cy="56692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신청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4320" y="2011680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올리기 (그룹 전시)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267712"/>
            <a:ext cx="1325880" cy="566928"/>
          </a:xfrm>
          <a:prstGeom prst="rect">
            <a:avLst/>
          </a:prstGeom>
          <a:solidFill>
            <a:srgbClr val="D6E4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2267712"/>
            <a:ext cx="1325880" cy="56692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 선택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(함께 올리기)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600200" y="2551176"/>
            <a:ext cx="41148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2011680" y="2267712"/>
            <a:ext cx="1325880" cy="566928"/>
          </a:xfrm>
          <a:prstGeom prst="rect">
            <a:avLst/>
          </a:prstGeom>
          <a:solidFill>
            <a:srgbClr val="D6E4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11680" y="2267712"/>
            <a:ext cx="1325880" cy="56692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등록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&amp; 작가 지정 (2명↑)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337560" y="2551176"/>
            <a:ext cx="41148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3749040" y="2267712"/>
            <a:ext cx="1417320" cy="566928"/>
          </a:xfrm>
          <a:prstGeom prst="rect">
            <a:avLst/>
          </a:prstGeom>
          <a:solidFill>
            <a:srgbClr val="D6E4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49040" y="2267712"/>
            <a:ext cx="1417320" cy="56692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세부정보 입력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(그룹명 · 전시명)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66360" y="2551176"/>
            <a:ext cx="41148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5577840" y="2267712"/>
            <a:ext cx="868680" cy="566928"/>
          </a:xfrm>
          <a:prstGeom prst="rect">
            <a:avLst/>
          </a:prstGeom>
          <a:solidFill>
            <a:srgbClr val="2B5B9D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77840" y="2267712"/>
            <a:ext cx="868680" cy="56692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신청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966460" y="1737360"/>
            <a:ext cx="0" cy="530352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6355080" y="1920240"/>
            <a:ext cx="41148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6766560" y="1554480"/>
            <a:ext cx="1371600" cy="777240"/>
          </a:xfrm>
          <a:prstGeom prst="rect">
            <a:avLst/>
          </a:prstGeom>
          <a:solidFill>
            <a:srgbClr val="FFF9C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0" y="15544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 대기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(운영팀)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452360" y="2331720"/>
            <a:ext cx="0" cy="41148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6995160" y="2743200"/>
            <a:ext cx="45720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95160" y="2743200"/>
            <a:ext cx="0" cy="32004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36" name="Shape 34"/>
          <p:cNvSpPr/>
          <p:nvPr/>
        </p:nvSpPr>
        <p:spPr>
          <a:xfrm>
            <a:off x="6537960" y="3063240"/>
            <a:ext cx="914400" cy="566928"/>
          </a:xfrm>
          <a:prstGeom prst="rect">
            <a:avLst/>
          </a:prstGeom>
          <a:solidFill>
            <a:srgbClr val="F8D7D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37960" y="3063240"/>
            <a:ext cx="914400" cy="56692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(사유 전달)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452360" y="2743200"/>
            <a:ext cx="45720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09560" y="2743200"/>
            <a:ext cx="0" cy="32004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7498080" y="3063240"/>
            <a:ext cx="1005840" cy="566928"/>
          </a:xfrm>
          <a:prstGeom prst="rect">
            <a:avLst/>
          </a:prstGeom>
          <a:solidFill>
            <a:srgbClr val="D6EDD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98080" y="30632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피드 공개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406640" y="363016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A8C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팔로워 알림</a:t>
            </a:r>
            <a:endParaRPr lang="en-US" sz="8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A8C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초대 링크 활성화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537960" y="3346704"/>
            <a:ext cx="-4434840" cy="0"/>
          </a:xfrm>
          <a:prstGeom prst="line">
            <a:avLst/>
          </a:prstGeom>
          <a:noFill/>
          <a:ln w="15240">
            <a:solidFill>
              <a:srgbClr val="888888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2103120" y="3346704"/>
            <a:ext cx="0" cy="-1078992"/>
          </a:xfrm>
          <a:prstGeom prst="line">
            <a:avLst/>
          </a:prstGeom>
          <a:noFill/>
          <a:ln w="15240">
            <a:solidFill>
              <a:srgbClr val="888888"/>
            </a:solidFill>
            <a:prstDash val="dash"/>
            <a:tailEnd type="arrow"/>
          </a:ln>
        </p:spPr>
      </p:sp>
      <p:sp>
        <p:nvSpPr>
          <p:cNvPr id="45" name="Text 43"/>
          <p:cNvSpPr/>
          <p:nvPr/>
        </p:nvSpPr>
        <p:spPr>
          <a:xfrm>
            <a:off x="2286000" y="3218688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후 재검수 가능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74320" y="4160520"/>
            <a:ext cx="8412480" cy="59436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178808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C29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후 즉시 공개되지 않고 운영팀 검수 대기 상태 진입. 반려 시 사유 4종(저작권·부적절·촬영사진·기타) + 메모 전달. 작가는 수정 후 재검수 요청 가능. 전시명·작품명·그룹명 20자 상한.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Proud Gallery   주요 플로우 ②   비회원 초대 &amp; 작품 연결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286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795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전시에서 '비회원'으로 지정된 슬롯 → 검수 승인 후 초대 링크 자동 발급 → 업로더 작가가 직접 공유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115568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9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업로더 작가 (작품 올린 사람)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1417320" cy="566928"/>
          </a:xfrm>
          <a:prstGeom prst="rect">
            <a:avLst/>
          </a:prstGeom>
          <a:solidFill>
            <a:srgbClr val="D6E4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353312"/>
            <a:ext cx="1417320" cy="56692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비회원 슬롯에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등록 &amp; 전시 신청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91640" y="1636776"/>
            <a:ext cx="41148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2103120" y="1353312"/>
            <a:ext cx="1280160" cy="566928"/>
          </a:xfrm>
          <a:prstGeom prst="rect">
            <a:avLst/>
          </a:prstGeom>
          <a:solidFill>
            <a:srgbClr val="FFF9C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03120" y="1353312"/>
            <a:ext cx="1280160" cy="56692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 승인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(운영팀)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83280" y="1636776"/>
            <a:ext cx="41148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3794760" y="1353312"/>
            <a:ext cx="1280160" cy="566928"/>
          </a:xfrm>
          <a:prstGeom prst="rect">
            <a:avLst/>
          </a:prstGeom>
          <a:solidFill>
            <a:srgbClr val="D6EDD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94760" y="1353312"/>
            <a:ext cx="1280160" cy="56692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초대 링크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발급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74920" y="1636776"/>
            <a:ext cx="41148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5486400" y="1353312"/>
            <a:ext cx="1417320" cy="566928"/>
          </a:xfrm>
          <a:prstGeom prst="rect">
            <a:avLst/>
          </a:prstGeom>
          <a:solidFill>
            <a:srgbClr val="D0EA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0" y="1353312"/>
            <a:ext cx="1417320" cy="56692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비회원에게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직접 공유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95060" y="1920240"/>
            <a:ext cx="0" cy="41148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19" name="Text 17"/>
          <p:cNvSpPr/>
          <p:nvPr/>
        </p:nvSpPr>
        <p:spPr>
          <a:xfrm>
            <a:off x="4572000" y="2377440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9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초대받은 비회원 (가입 전 친구)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212080" y="2615184"/>
            <a:ext cx="1280160" cy="566928"/>
          </a:xfrm>
          <a:prstGeom prst="rect">
            <a:avLst/>
          </a:prstGeom>
          <a:solidFill>
            <a:srgbClr val="D0EA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12080" y="2615184"/>
            <a:ext cx="1280160" cy="56692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클릭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&amp; 진입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657600" y="2898648"/>
            <a:ext cx="155448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2377440" y="2615184"/>
            <a:ext cx="1280160" cy="566928"/>
          </a:xfrm>
          <a:prstGeom prst="rect">
            <a:avLst/>
          </a:prstGeom>
          <a:solidFill>
            <a:srgbClr val="D6E4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77440" y="2615184"/>
            <a:ext cx="1280160" cy="56692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&amp;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온보딩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22960" y="2898648"/>
            <a:ext cx="155448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274320" y="2615184"/>
            <a:ext cx="1463040" cy="749808"/>
          </a:xfrm>
          <a:prstGeom prst="rect">
            <a:avLst/>
          </a:prstGeom>
          <a:solidFill>
            <a:srgbClr val="FFE5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2615184"/>
            <a:ext cx="1463040" cy="74980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온보딩: 본인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카드 클릭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확인 다이얼로그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05840" y="3364992"/>
            <a:ext cx="0" cy="384048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274320" y="3749040"/>
            <a:ext cx="1554480" cy="530352"/>
          </a:xfrm>
          <a:prstGeom prst="rect">
            <a:avLst/>
          </a:prstGeom>
          <a:solidFill>
            <a:srgbClr val="D6EDD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3749040"/>
            <a:ext cx="155448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연결 완료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('member' 승격)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828800" y="4014216"/>
            <a:ext cx="50292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2331720" y="3749040"/>
            <a:ext cx="1554480" cy="530352"/>
          </a:xfrm>
          <a:prstGeom prst="rect">
            <a:avLst/>
          </a:prstGeom>
          <a:solidFill>
            <a:srgbClr val="FFF9C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31720" y="3749040"/>
            <a:ext cx="1554480" cy="530352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업로더에게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알림 1건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937760" y="3474720"/>
            <a:ext cx="3749040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74920" y="3511296"/>
            <a:ext cx="347472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29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포인트
</a:t>
            </a:r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링크 유효기간 90일 (반려 시 비활성, 재승인 시 자동 활성)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동시 연결 충돌 방지: 두 번째 선택 자동 차단 + 토스트 안내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잘못 연결 시 업로더가 슬롯 편집으로 해제 가능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Proud Gallery   소프트런칭 범위 (P0)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286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41248"/>
          <a:ext cx="85953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0080"/>
                <a:gridCol w="6720840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9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9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주요 화면 &amp; 특이사항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951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· 온보딩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소셜 3종(카카오·구글·애플) + 이메일 / 온보딩 '본인 작품 찾기'(조건부 진입)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둘러보기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피드: 배너 + 탭(전체·개인·그룹) + 카드 그리드, 비로그인 탐색 가능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전시 상세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 뷰어 · 좋아요 · 저장 · 팔로우 · 공유 · 신고 / 비회원 초대 랜딩(4가지 분기)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업로드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혼자·함께 올리기 / 작가 지정 / 세부정보 / 비회원 초대 안내 / 반려 후 재편집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전시·내 작품·좋아요·저장·초안 탭 / 팔로워·팔로잉 / 반려 사유 확인 / 삭제 확인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3종(기획전·응모전·Pick) + 응모 모달 + Pick 세션 상세 + 명예의 전당 / 기획전 항목은 외부 링크 연결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빈 상태 + 결과 (필터 5종: 전체·작가명·그룹명·전시명·작품명)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13종 알림, 필터 7종, 90일 보관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글꼴(3단계) · 테마(밝기) · 알림 설정 · 로그아웃 · 탈퇴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소개 · FAQ · 공지 · 이용약관* · 개인정보처리방침* · 문의하기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어드민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~12개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검수 큐 · 판정 / Pick(선정 · 이력) · 기획전 · 응모전 · 배너 / 대시보드 · 문의함  (신고 처리 큐 · 회원 목록은 P1 이후)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73659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이용약관 · 개인정보처리방침은 법무 확정본 삽입 전까지 사용자 모집 불가 (런칭 블로커)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Proud Gallery   소프트런칭 전 필수 확정 항목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286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50392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219456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9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9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951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법무  🔴 블로커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이용약관 확정본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 + 외부 변호사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법무  🔴 블로커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개인정보처리방침 확정본 + DPO 지정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 + 외부 변호사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마케팅 수신 동의 문구 확정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 + 외부 변호사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응모전 게시 동의 적법 근거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 + 외부 변호사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소셜 로그인 실연동 (카카오 · 구글 · 애플)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 인증 링크 실발송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실서버 연결 및 데이터 영속화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파비콘 및 웹 기본 정보 설정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개발사 + PM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315968"/>
            <a:ext cx="8412480" cy="438912"/>
          </a:xfrm>
          <a:prstGeom prst="rect">
            <a:avLst/>
          </a:prstGeom>
          <a:solidFill>
            <a:srgbClr val="FFF3CD"/>
          </a:solidFill>
          <a:ln w="19050">
            <a:solidFill>
              <a:srgbClr val="FFD7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4334256"/>
            <a:ext cx="8046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B4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개발은 이미 착수 중. 6월 30일 소프트런칭을 맞추려면   법무 변호사 의뢰를 이번 주 시작해야 합니다 (완료까지 2~4주 소요).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Proud Gallery   법무 검토 상세 사항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286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731520" cy="201168"/>
          </a:xfrm>
          <a:prstGeom prst="rect">
            <a:avLst/>
          </a:prstGeom>
          <a:solidFill>
            <a:srgbClr val="F8D7DA"/>
          </a:solidFill>
          <a:ln w="12700">
            <a:solidFill>
              <a:srgbClr val="F8D7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2296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 즉시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88136" y="832104"/>
            <a:ext cx="31181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이용약관 · 개인정보처리방침 미작성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" y="1033272"/>
            <a:ext cx="3886200" cy="356616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042416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정책은 완성됐으나 법적 효력 있는 약관 문서 없음. 변호사 초안 작성·검토 2~4주 소요. 런칭 블로커.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89120" y="822960"/>
            <a:ext cx="731520" cy="201168"/>
          </a:xfrm>
          <a:prstGeom prst="rect">
            <a:avLst/>
          </a:prstGeom>
          <a:solidFill>
            <a:srgbClr val="F8D7DA"/>
          </a:solidFill>
          <a:ln w="12700">
            <a:solidFill>
              <a:srgbClr val="F8D7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82296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 즉시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5157216" y="832104"/>
            <a:ext cx="31181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14세 미만 차단 방식 적법성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9120" y="1033272"/>
            <a:ext cx="3886200" cy="356616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62272" y="1042416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선언 체크박스만 수집(생년월일 미수집). 법정대리인 동의 면제 요건 및 약관 면책 문구 확인 필요.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0040" y="1426464"/>
            <a:ext cx="731520" cy="201168"/>
          </a:xfrm>
          <a:prstGeom prst="rect">
            <a:avLst/>
          </a:prstGeom>
          <a:solidFill>
            <a:srgbClr val="F8D7DA"/>
          </a:solidFill>
          <a:ln w="12700">
            <a:solidFill>
              <a:srgbClr val="F8D7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1426464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 즉시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088136" y="1435608"/>
            <a:ext cx="31181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채널 없는 사용자 법적 고지 (LP-12)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1636776"/>
            <a:ext cx="3886200" cy="356616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3192" y="1645920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이메일 미등록 + 전화번호 거부 사용자 → 인앱 알림만으로 약관 변경 고지 시 전자상거래법·약관규제법 충족 여부.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389120" y="1426464"/>
            <a:ext cx="731520" cy="201168"/>
          </a:xfrm>
          <a:prstGeom prst="rect">
            <a:avLst/>
          </a:prstGeom>
          <a:solidFill>
            <a:srgbClr val="F8D7DA"/>
          </a:solidFill>
          <a:ln w="12700">
            <a:solidFill>
              <a:srgbClr val="F8D7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0" y="1426464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 즉시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157216" y="1435608"/>
            <a:ext cx="31181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DPO(개인정보보호책임자) 지정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389120" y="1636776"/>
            <a:ext cx="3886200" cy="356616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62272" y="1645920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개인정보처리방침에 DPO 명시 의무. 내부 지정 vs 외부 법무법인 위탁 결정 후 처리방침에 포함.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0040" y="2029968"/>
            <a:ext cx="731520" cy="201168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202996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B5B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 동시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088136" y="2039112"/>
            <a:ext cx="31181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"동의하지 않으면 동의 간주" 조항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0040" y="2240280"/>
            <a:ext cx="3886200" cy="356616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3192" y="2249424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약관규제법 §3③ 기준. 변경 공지 시 포함해야 하는 정확한 조항 문구·표시 위치·효력 발생 기간.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389120" y="2029968"/>
            <a:ext cx="731520" cy="201168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0" y="202996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B5B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 동시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157216" y="2039112"/>
            <a:ext cx="31181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저작권 — 플랫폼 라이선스 범위 &amp; OSP 면책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389120" y="2240280"/>
            <a:ext cx="3886200" cy="356616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62272" y="2249424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업로드 시 플랫폼이 취득하는 사용권 범위. 저작권법 OSP 면책 요건 충족을 위한 삭제 요청 대응 절차.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0040" y="2633472"/>
            <a:ext cx="731520" cy="201168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" y="2633472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B5B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 동시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088136" y="2642616"/>
            <a:ext cx="31181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매직 링크(이메일 일회용 링크) 인증 방식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0040" y="2843784"/>
            <a:ext cx="3886200" cy="356616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3192" y="2852928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없는 이메일 링크 인증이 정보통신망법상 본인 확인 기준 충족 여부. 법적 분쟁 시 본인 로그인 증빙.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89120" y="2633472"/>
            <a:ext cx="731520" cy="201168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89120" y="2633472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B5B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 동시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5157216" y="2642616"/>
            <a:ext cx="31181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응모전 게시 동의 적법 근거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389120" y="2843784"/>
            <a:ext cx="3886200" cy="356616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62272" y="2852928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응모 시 작품이 수상 발표·홍보에 사용될 수 있는 근거 조항. 응모 모달 동의 문구 법무 확정 필요.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0040" y="4626864"/>
            <a:ext cx="8503920" cy="310896"/>
          </a:xfrm>
          <a:prstGeom prst="rect">
            <a:avLst/>
          </a:prstGeom>
          <a:solidFill>
            <a:srgbClr val="FFF3CD"/>
          </a:solidFill>
          <a:ln w="19050">
            <a:solidFill>
              <a:srgbClr val="FFD7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62686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B4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 의뢰 4건은 같은 법무법인에 한 번에 의뢰하면 컨텍스트 공유로 비용·기간 단축.   착수 목표: 이번 주 (6월 30일 런칭 역산 마지노선)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Proud Gallery   런칭 이후 계획   P1 &amp; Phase 2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286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850392"/>
            <a:ext cx="3931920" cy="365760"/>
          </a:xfrm>
          <a:prstGeom prst="rect">
            <a:avLst/>
          </a:prstGeom>
          <a:solidFill>
            <a:srgbClr val="1C2951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503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   소프트런칭 후 1~3개월  Iteration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216152"/>
            <a:ext cx="3931920" cy="457200"/>
          </a:xfrm>
          <a:prstGeom prst="rect">
            <a:avLst/>
          </a:prstGeom>
          <a:solidFill>
            <a:srgbClr val="F0F4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2161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멀티태그 시스템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(전시 · 작품 단위 태깅, 어드민 태깅 도구)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691640"/>
            <a:ext cx="3931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6916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 개인화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(팔로잉 · 태그 기반 랭킹)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167128"/>
            <a:ext cx="3931920" cy="457200"/>
          </a:xfrm>
          <a:prstGeom prst="rect">
            <a:avLst/>
          </a:prstGeom>
          <a:solidFill>
            <a:srgbClr val="F0F4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1671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처리 큐 + 어드민 회원 목록 · 상세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642616"/>
            <a:ext cx="3931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426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응모전 이메일 구독 관리 화면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(현재 설정 토글로 대체 운영 가능)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118104"/>
            <a:ext cx="3931920" cy="457200"/>
          </a:xfrm>
          <a:prstGeom prst="rect">
            <a:avLst/>
          </a:prstGeom>
          <a:solidFill>
            <a:srgbClr val="F0F4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118104"/>
            <a:ext cx="3931920" cy="45720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전시 · 이벤트 · 공지 관리 어드민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(초기엔 수동 운영으로 커버)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3593592"/>
            <a:ext cx="3931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5935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 변경 강제 동의 화면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(런칭 초판 시점엔 변경 이벤트 없음)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00600" y="850392"/>
            <a:ext cx="3931920" cy="365760"/>
          </a:xfrm>
          <a:prstGeom prst="rect">
            <a:avLst/>
          </a:prstGeom>
          <a:solidFill>
            <a:srgbClr val="2A7A7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8503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  장기 로드맵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800600" y="1216152"/>
            <a:ext cx="3931920" cy="475488"/>
          </a:xfrm>
          <a:prstGeom prst="rect">
            <a:avLst/>
          </a:prstGeom>
          <a:solidFill>
            <a:srgbClr val="F0F4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1216152"/>
            <a:ext cx="3931920" cy="47548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 검색 + 카테고리 탐색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(태그 데이터 축적 후 오픈)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00600" y="1792224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792224"/>
            <a:ext cx="3931920" cy="47548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어드민 권한 3단계 분리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(최고 운영자 · 에디터 · 뷰어)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00600" y="2368296"/>
            <a:ext cx="3931920" cy="475488"/>
          </a:xfrm>
          <a:prstGeom prst="rect">
            <a:avLst/>
          </a:prstGeom>
          <a:solidFill>
            <a:srgbClr val="F0F4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2368296"/>
            <a:ext cx="3931920" cy="47548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댓글 · 메시지 · 그룹 커뮤니티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00600" y="2944368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2944368"/>
            <a:ext cx="3931920" cy="47548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 공유 이미지 동적 생성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800600" y="3520440"/>
            <a:ext cx="3931920" cy="475488"/>
          </a:xfrm>
          <a:prstGeom prst="rect">
            <a:avLst/>
          </a:prstGeom>
          <a:solidFill>
            <a:srgbClr val="F0F4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35204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작가 직접 거래 · 라이선스 연결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800600" y="4096512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4096512"/>
            <a:ext cx="3931920" cy="47548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차원 제재 (주의 · 정지)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Proud Gallery   개발 마일스톤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286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68680"/>
          <a:ext cx="84124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27632"/>
                <a:gridCol w="1627632"/>
                <a:gridCol w="1627632"/>
                <a:gridCol w="1627632"/>
              </a:tblGrid>
              <a:tr h="5760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9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9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6월 1주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9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6월 말 (30일)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9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7월~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951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  ✓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법무 의뢰·확정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의뢰 착수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(이번 주)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 목표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(2~4주 소요)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디자인 (Figma)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착수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E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Figma 납품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E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(MD 기반)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E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E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E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P1 기능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EFB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 목표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소프트런칭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 🎯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572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법무 변호사 의뢰가 이번 주 시작되지 않으면 약관 미완성으로 6월 30일 소프트런칭이 어렵습니다.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Proud Gallery   추가 지원 &amp; 역할 분담 필요 사항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286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68680"/>
          <a:ext cx="84124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2743200"/>
                <a:gridCol w="23774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9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9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9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시급도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95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디자인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 · 프로토타입 완료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Figma 파일 제작 &amp; 납품 → 개발 갈아끼우기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납품 일정 확인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착수 완료. MD 기반 정합성 체크하며 진행 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디자인 납품 후 교체 작업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초안 완성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변호사 검토 · 확정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(완료까지 2~4주 소요)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🔴 이번 주 의뢰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화면별 수용 기준 포함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완료 후 전체 검증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완료 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3931920"/>
            <a:ext cx="8412480" cy="74980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3950208"/>
            <a:ext cx="8046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FFF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  </a:t>
            </a:r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완료 · 개발 진행 중. 남은 단 하나의 블로커는 법무입니다.
</a:t>
            </a:r>
            <a:pPr indent="0" marL="0">
              <a:lnSpc>
                <a:spcPct val="140000"/>
              </a:lnSpc>
              <a:buNone/>
            </a:pPr>
            <a:r>
              <a:rPr lang="en-US" sz="1150" b="1" dirty="0">
                <a:solidFill>
                  <a:srgbClr val="FFF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법무 변호사 의뢰를 이번 주 시작해야 6월 30일 소프트런칭이 가능합니다.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2026-05-17T22:26:03Z</dcterms:created>
  <dcterms:modified xsi:type="dcterms:W3CDTF">2026-05-17T22:26:03Z</dcterms:modified>
</cp:coreProperties>
</file>